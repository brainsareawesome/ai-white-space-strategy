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4"/>
    </p:embeddedFont>
    <p:embeddedFont>
      <p:font typeface="Open Sans Bold" charset="1" panose="00000000000000000000"/>
      <p:regular r:id="rId15"/>
    </p:embeddedFont>
    <p:embeddedFont>
      <p:font typeface="Open Sans" charset="1" panose="00000000000000000000"/>
      <p:regular r:id="rId16"/>
    </p:embeddedFont>
    <p:embeddedFont>
      <p:font typeface="Montserra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49623" y="1560920"/>
            <a:ext cx="11188753" cy="52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b="true" sz="5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POSITIONING MAP GENERATION WITH AI:</a:t>
            </a:r>
          </a:p>
          <a:p>
            <a:pPr algn="ctr">
              <a:lnSpc>
                <a:spcPts val="5939"/>
              </a:lnSpc>
            </a:pPr>
          </a:p>
          <a:p>
            <a:pPr algn="ctr">
              <a:lnSpc>
                <a:spcPts val="5939"/>
              </a:lnSpc>
            </a:pPr>
            <a:r>
              <a:rPr lang="en-US" b="true" sz="53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STRATEGIC PLANNING &amp; WHITE-SPACE IDENTIFICATION</a:t>
            </a:r>
          </a:p>
          <a:p>
            <a:pPr algn="ctr">
              <a:lnSpc>
                <a:spcPts val="593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147299" y="7638506"/>
            <a:ext cx="5156292" cy="954684"/>
            <a:chOff x="0" y="0"/>
            <a:chExt cx="219498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986" cy="406400"/>
            </a:xfrm>
            <a:custGeom>
              <a:avLst/>
              <a:gdLst/>
              <a:ahLst/>
              <a:cxnLst/>
              <a:rect r="r" b="b" t="t" l="l"/>
              <a:pathLst>
                <a:path h="406400" w="2194986">
                  <a:moveTo>
                    <a:pt x="1991786" y="0"/>
                  </a:moveTo>
                  <a:cubicBezTo>
                    <a:pt x="2104010" y="0"/>
                    <a:pt x="2194986" y="90976"/>
                    <a:pt x="2194986" y="203200"/>
                  </a:cubicBezTo>
                  <a:cubicBezTo>
                    <a:pt x="2194986" y="315424"/>
                    <a:pt x="2104010" y="406400"/>
                    <a:pt x="19917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94986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29463" y="8593190"/>
            <a:ext cx="293547" cy="2935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208758" y="3062301"/>
            <a:ext cx="1137437" cy="113743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50174" y="4027160"/>
            <a:ext cx="349058" cy="3490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4438" y="5362026"/>
            <a:ext cx="345156" cy="34515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1702" y="5206240"/>
            <a:ext cx="155786" cy="15578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147299" y="7826030"/>
            <a:ext cx="4908973" cy="52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6"/>
              </a:lnSpc>
            </a:pPr>
            <a:r>
              <a:rPr lang="en-US" sz="30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Section 2 - Group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31612" y="7111911"/>
            <a:ext cx="6491949" cy="343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9"/>
              </a:lnSpc>
            </a:pPr>
            <a:r>
              <a:rPr lang="en-US" sz="2299" b="tru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DM282009 - </a:t>
            </a:r>
            <a:r>
              <a:rPr lang="en-US" sz="2299" b="tru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ANANYA BHAMMIDIMARRI</a:t>
            </a:r>
          </a:p>
          <a:p>
            <a:pPr algn="l">
              <a:lnSpc>
                <a:spcPts val="3909"/>
              </a:lnSpc>
            </a:pPr>
            <a:r>
              <a:rPr lang="en-US" sz="2299" b="tru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DM282018 - CHERAN U</a:t>
            </a:r>
          </a:p>
          <a:p>
            <a:pPr algn="l">
              <a:lnSpc>
                <a:spcPts val="3909"/>
              </a:lnSpc>
            </a:pPr>
            <a:r>
              <a:rPr lang="en-US" sz="2299" b="tru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DM282024 - GAURAV KUSHWAHA</a:t>
            </a:r>
          </a:p>
          <a:p>
            <a:pPr algn="l">
              <a:lnSpc>
                <a:spcPts val="3909"/>
              </a:lnSpc>
            </a:pPr>
            <a:r>
              <a:rPr lang="en-US" sz="2299" b="tru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DM282073 - STUTI PRAJNA PATRA</a:t>
            </a:r>
          </a:p>
          <a:p>
            <a:pPr algn="l">
              <a:lnSpc>
                <a:spcPts val="3909"/>
              </a:lnSpc>
            </a:pPr>
            <a:r>
              <a:rPr lang="en-US" sz="2299" b="tru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DM282075 - SUDIP MISHRA</a:t>
            </a:r>
          </a:p>
          <a:p>
            <a:pPr algn="l">
              <a:lnSpc>
                <a:spcPts val="3909"/>
              </a:lnSpc>
            </a:pPr>
          </a:p>
          <a:p>
            <a:pPr algn="l" marL="0" indent="0" lvl="0">
              <a:lnSpc>
                <a:spcPts val="39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206" y="917082"/>
            <a:ext cx="15543916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CATEGORY CONTEXT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036064" y="9301438"/>
            <a:ext cx="1619625" cy="1971124"/>
            <a:chOff x="0" y="0"/>
            <a:chExt cx="66785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7858" cy="812800"/>
            </a:xfrm>
            <a:custGeom>
              <a:avLst/>
              <a:gdLst/>
              <a:ahLst/>
              <a:cxnLst/>
              <a:rect r="r" b="b" t="t" l="l"/>
              <a:pathLst>
                <a:path h="812800" w="667858">
                  <a:moveTo>
                    <a:pt x="333929" y="0"/>
                  </a:moveTo>
                  <a:cubicBezTo>
                    <a:pt x="149505" y="0"/>
                    <a:pt x="0" y="181951"/>
                    <a:pt x="0" y="406400"/>
                  </a:cubicBezTo>
                  <a:cubicBezTo>
                    <a:pt x="0" y="630849"/>
                    <a:pt x="149505" y="812800"/>
                    <a:pt x="333929" y="812800"/>
                  </a:cubicBezTo>
                  <a:cubicBezTo>
                    <a:pt x="518353" y="812800"/>
                    <a:pt x="667858" y="630849"/>
                    <a:pt x="667858" y="406400"/>
                  </a:cubicBezTo>
                  <a:cubicBezTo>
                    <a:pt x="667858" y="181951"/>
                    <a:pt x="518353" y="0"/>
                    <a:pt x="33392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62612" y="47625"/>
              <a:ext cx="54263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28206" y="1806361"/>
            <a:ext cx="9158645" cy="5400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6"/>
              </a:lnSpc>
            </a:pPr>
          </a:p>
          <a:p>
            <a:pPr algn="l" marL="633356" indent="-316678" lvl="1">
              <a:lnSpc>
                <a:spcPts val="4987"/>
              </a:lnSpc>
              <a:buFont typeface="Arial"/>
              <a:buChar char="•"/>
            </a:pPr>
            <a:r>
              <a:rPr lang="en-US" sz="293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93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ackaged beverages - India</a:t>
            </a:r>
          </a:p>
          <a:p>
            <a:pPr algn="l" marL="633356" indent="-316678" lvl="1">
              <a:lnSpc>
                <a:spcPts val="4987"/>
              </a:lnSpc>
              <a:buFont typeface="Arial"/>
              <a:buChar char="•"/>
            </a:pPr>
            <a:r>
              <a:rPr lang="en-US" sz="293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Projected market growth of ~6.4% CAGR</a:t>
            </a:r>
          </a:p>
          <a:p>
            <a:pPr algn="l" marL="633356" indent="-316678" lvl="1">
              <a:lnSpc>
                <a:spcPts val="4987"/>
              </a:lnSpc>
              <a:buFont typeface="Arial"/>
              <a:buChar char="•"/>
            </a:pPr>
            <a:r>
              <a:rPr lang="en-US" sz="293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Rising urban health consciousness</a:t>
            </a:r>
          </a:p>
          <a:p>
            <a:pPr algn="l" marL="633356" indent="-316678" lvl="1">
              <a:lnSpc>
                <a:spcPts val="4987"/>
              </a:lnSpc>
              <a:buFont typeface="Arial"/>
              <a:buChar char="•"/>
            </a:pPr>
            <a:r>
              <a:rPr lang="en-US" sz="293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Increasing scrutiny of added sugar, preservatives &amp; concentrates</a:t>
            </a:r>
          </a:p>
          <a:p>
            <a:pPr algn="l" marL="633356" indent="-316678" lvl="1">
              <a:lnSpc>
                <a:spcPts val="4987"/>
              </a:lnSpc>
              <a:buFont typeface="Arial"/>
              <a:buChar char="•"/>
            </a:pPr>
            <a:r>
              <a:rPr lang="en-US" sz="293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Quick-commerce accelerating beverage discovery and purchase</a:t>
            </a:r>
          </a:p>
          <a:p>
            <a:pPr algn="l" marL="0" indent="0" lvl="0">
              <a:lnSpc>
                <a:spcPts val="4136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036064" y="805464"/>
            <a:ext cx="223236" cy="22323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63632" y="-63356"/>
            <a:ext cx="1092056" cy="10920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01777" y="2374180"/>
            <a:ext cx="6282787" cy="6884120"/>
            <a:chOff x="0" y="0"/>
            <a:chExt cx="1654726" cy="18131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54726" cy="1813102"/>
            </a:xfrm>
            <a:custGeom>
              <a:avLst/>
              <a:gdLst/>
              <a:ahLst/>
              <a:cxnLst/>
              <a:rect r="r" b="b" t="t" l="l"/>
              <a:pathLst>
                <a:path h="1813102" w="1654726">
                  <a:moveTo>
                    <a:pt x="24645" y="0"/>
                  </a:moveTo>
                  <a:lnTo>
                    <a:pt x="1630081" y="0"/>
                  </a:lnTo>
                  <a:cubicBezTo>
                    <a:pt x="1643692" y="0"/>
                    <a:pt x="1654726" y="11034"/>
                    <a:pt x="1654726" y="24645"/>
                  </a:cubicBezTo>
                  <a:lnTo>
                    <a:pt x="1654726" y="1788457"/>
                  </a:lnTo>
                  <a:cubicBezTo>
                    <a:pt x="1654726" y="1802068"/>
                    <a:pt x="1643692" y="1813102"/>
                    <a:pt x="1630081" y="1813102"/>
                  </a:cubicBezTo>
                  <a:lnTo>
                    <a:pt x="24645" y="1813102"/>
                  </a:lnTo>
                  <a:cubicBezTo>
                    <a:pt x="11034" y="1813102"/>
                    <a:pt x="0" y="1802068"/>
                    <a:pt x="0" y="1788457"/>
                  </a:cubicBezTo>
                  <a:lnTo>
                    <a:pt x="0" y="24645"/>
                  </a:lnTo>
                  <a:cubicBezTo>
                    <a:pt x="0" y="11034"/>
                    <a:pt x="11034" y="0"/>
                    <a:pt x="246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654726" cy="1841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682710" y="2700471"/>
            <a:ext cx="5432442" cy="574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COMPETITORS</a:t>
            </a:r>
          </a:p>
          <a:p>
            <a:pPr algn="ctr">
              <a:lnSpc>
                <a:spcPts val="4159"/>
              </a:lnSpc>
            </a:pPr>
          </a:p>
          <a:p>
            <a:pPr algn="ctr">
              <a:lnSpc>
                <a:spcPts val="4159"/>
              </a:lnSpc>
              <a:spcBef>
                <a:spcPct val="0"/>
              </a:spcBef>
            </a:pPr>
            <a:r>
              <a:rPr lang="en-US" b="true" sz="29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Paper Boat</a:t>
            </a:r>
            <a:r>
              <a:rPr lang="en-US" sz="29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 Ethnic nostalgia &amp; traditional Indian flavours</a:t>
            </a:r>
          </a:p>
          <a:p>
            <a:pPr algn="ctr">
              <a:lnSpc>
                <a:spcPts val="4159"/>
              </a:lnSpc>
              <a:spcBef>
                <a:spcPct val="0"/>
              </a:spcBef>
            </a:pPr>
          </a:p>
          <a:p>
            <a:pPr algn="ctr">
              <a:lnSpc>
                <a:spcPts val="4159"/>
              </a:lnSpc>
              <a:spcBef>
                <a:spcPct val="0"/>
              </a:spcBef>
            </a:pPr>
            <a:r>
              <a:rPr lang="en-US" b="true" sz="29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Tropicana</a:t>
            </a:r>
            <a:r>
              <a:rPr lang="en-US" sz="29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 Premium global juice &amp; breakfast nutrition</a:t>
            </a:r>
          </a:p>
          <a:p>
            <a:pPr algn="ctr">
              <a:lnSpc>
                <a:spcPts val="4159"/>
              </a:lnSpc>
              <a:spcBef>
                <a:spcPct val="0"/>
              </a:spcBef>
            </a:pPr>
          </a:p>
          <a:p>
            <a:pPr algn="ctr">
              <a:lnSpc>
                <a:spcPts val="4159"/>
              </a:lnSpc>
              <a:spcBef>
                <a:spcPct val="0"/>
              </a:spcBef>
            </a:pPr>
            <a:r>
              <a:rPr lang="en-US" b="true" sz="297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Dabur Réal </a:t>
            </a:r>
            <a:r>
              <a:rPr lang="en-US" sz="29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Mass-market family health &amp; trust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52376" y="7207057"/>
            <a:ext cx="5644814" cy="1007385"/>
            <a:chOff x="0" y="0"/>
            <a:chExt cx="2277236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7236" cy="406400"/>
            </a:xfrm>
            <a:custGeom>
              <a:avLst/>
              <a:gdLst/>
              <a:ahLst/>
              <a:cxnLst/>
              <a:rect r="r" b="b" t="t" l="l"/>
              <a:pathLst>
                <a:path h="406400" w="2277236">
                  <a:moveTo>
                    <a:pt x="2074036" y="0"/>
                  </a:moveTo>
                  <a:cubicBezTo>
                    <a:pt x="2186260" y="0"/>
                    <a:pt x="2277236" y="90976"/>
                    <a:pt x="2277236" y="203200"/>
                  </a:cubicBezTo>
                  <a:cubicBezTo>
                    <a:pt x="2277236" y="315424"/>
                    <a:pt x="2186260" y="406400"/>
                    <a:pt x="207403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77236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pc="17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STRATEGIC CONTEXT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13239" y="8557895"/>
            <a:ext cx="8723089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distinct competitive territories - but a potential gap between ethnic authenticity and health-focused formulation.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206" y="917082"/>
            <a:ext cx="15543916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CRITIQUE SUMMARY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036064" y="805464"/>
            <a:ext cx="223236" cy="2232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63632" y="-63356"/>
            <a:ext cx="1092056" cy="10920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717" y="2460455"/>
            <a:ext cx="5566982" cy="6840982"/>
            <a:chOff x="0" y="0"/>
            <a:chExt cx="1466201" cy="1801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6201" cy="1801740"/>
            </a:xfrm>
            <a:custGeom>
              <a:avLst/>
              <a:gdLst/>
              <a:ahLst/>
              <a:cxnLst/>
              <a:rect r="r" b="b" t="t" l="l"/>
              <a:pathLst>
                <a:path h="1801740" w="1466201">
                  <a:moveTo>
                    <a:pt x="27814" y="0"/>
                  </a:moveTo>
                  <a:lnTo>
                    <a:pt x="1438387" y="0"/>
                  </a:lnTo>
                  <a:cubicBezTo>
                    <a:pt x="1453748" y="0"/>
                    <a:pt x="1466201" y="12453"/>
                    <a:pt x="1466201" y="27814"/>
                  </a:cubicBezTo>
                  <a:lnTo>
                    <a:pt x="1466201" y="1773927"/>
                  </a:lnTo>
                  <a:cubicBezTo>
                    <a:pt x="1466201" y="1789288"/>
                    <a:pt x="1453748" y="1801740"/>
                    <a:pt x="1438387" y="1801740"/>
                  </a:cubicBezTo>
                  <a:lnTo>
                    <a:pt x="27814" y="1801740"/>
                  </a:lnTo>
                  <a:cubicBezTo>
                    <a:pt x="12453" y="1801740"/>
                    <a:pt x="0" y="1789288"/>
                    <a:pt x="0" y="1773927"/>
                  </a:cubicBezTo>
                  <a:lnTo>
                    <a:pt x="0" y="27814"/>
                  </a:lnTo>
                  <a:cubicBezTo>
                    <a:pt x="0" y="12453"/>
                    <a:pt x="12453" y="0"/>
                    <a:pt x="27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66201" cy="1830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0575" y="2733651"/>
            <a:ext cx="4901066" cy="641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AI Got Right</a:t>
            </a:r>
          </a:p>
          <a:p>
            <a:pPr algn="ctr">
              <a:lnSpc>
                <a:spcPts val="4159"/>
              </a:lnSpc>
            </a:pPr>
          </a:p>
          <a:p>
            <a:pPr algn="l" marL="598336" indent="-299168" lvl="1">
              <a:lnSpc>
                <a:spcPts val="3879"/>
              </a:lnSpc>
              <a:buFont typeface="Arial"/>
              <a:buChar char="•"/>
            </a:pPr>
            <a:r>
              <a:rPr lang="en-US" sz="27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Validated Paper Boat’s nostalgia &amp; ethnic positioning</a:t>
            </a:r>
          </a:p>
          <a:p>
            <a:pPr algn="l">
              <a:lnSpc>
                <a:spcPts val="3879"/>
              </a:lnSpc>
            </a:pPr>
          </a:p>
          <a:p>
            <a:pPr algn="l" marL="598336" indent="-299168" lvl="1">
              <a:lnSpc>
                <a:spcPts val="3879"/>
              </a:lnSpc>
              <a:buFont typeface="Arial"/>
              <a:buChar char="•"/>
            </a:pPr>
            <a:r>
              <a:rPr lang="en-US" sz="27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Confirmed Réal’s family health positioning</a:t>
            </a:r>
          </a:p>
          <a:p>
            <a:pPr algn="l">
              <a:lnSpc>
                <a:spcPts val="3879"/>
              </a:lnSpc>
            </a:pPr>
          </a:p>
          <a:p>
            <a:pPr algn="l" marL="598336" indent="-299168" lvl="1">
              <a:lnSpc>
                <a:spcPts val="3879"/>
              </a:lnSpc>
              <a:spcBef>
                <a:spcPct val="0"/>
              </a:spcBef>
              <a:buFont typeface="Arial"/>
              <a:buChar char="•"/>
            </a:pPr>
            <a:r>
              <a:rPr lang="en-US" sz="27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Identified growing demand for zero-added-sugar drinks</a:t>
            </a:r>
          </a:p>
          <a:p>
            <a:pPr algn="ctr">
              <a:lnSpc>
                <a:spcPts val="4159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350984" y="2224051"/>
            <a:ext cx="5566982" cy="7277092"/>
            <a:chOff x="0" y="0"/>
            <a:chExt cx="1466201" cy="1916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6201" cy="1916600"/>
            </a:xfrm>
            <a:custGeom>
              <a:avLst/>
              <a:gdLst/>
              <a:ahLst/>
              <a:cxnLst/>
              <a:rect r="r" b="b" t="t" l="l"/>
              <a:pathLst>
                <a:path h="1916600" w="1466201">
                  <a:moveTo>
                    <a:pt x="27814" y="0"/>
                  </a:moveTo>
                  <a:lnTo>
                    <a:pt x="1438387" y="0"/>
                  </a:lnTo>
                  <a:cubicBezTo>
                    <a:pt x="1453748" y="0"/>
                    <a:pt x="1466201" y="12453"/>
                    <a:pt x="1466201" y="27814"/>
                  </a:cubicBezTo>
                  <a:lnTo>
                    <a:pt x="1466201" y="1888787"/>
                  </a:lnTo>
                  <a:cubicBezTo>
                    <a:pt x="1466201" y="1904148"/>
                    <a:pt x="1453748" y="1916600"/>
                    <a:pt x="1438387" y="1916600"/>
                  </a:cubicBezTo>
                  <a:lnTo>
                    <a:pt x="27814" y="1916600"/>
                  </a:lnTo>
                  <a:cubicBezTo>
                    <a:pt x="20437" y="1916600"/>
                    <a:pt x="13363" y="1913670"/>
                    <a:pt x="8146" y="1908454"/>
                  </a:cubicBezTo>
                  <a:cubicBezTo>
                    <a:pt x="2930" y="1903238"/>
                    <a:pt x="0" y="1896163"/>
                    <a:pt x="0" y="1888787"/>
                  </a:cubicBezTo>
                  <a:lnTo>
                    <a:pt x="0" y="27814"/>
                  </a:lnTo>
                  <a:cubicBezTo>
                    <a:pt x="0" y="12453"/>
                    <a:pt x="12453" y="0"/>
                    <a:pt x="27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66201" cy="194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12218" y="1980969"/>
            <a:ext cx="5566982" cy="7936152"/>
            <a:chOff x="0" y="0"/>
            <a:chExt cx="1466201" cy="20901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6201" cy="2090180"/>
            </a:xfrm>
            <a:custGeom>
              <a:avLst/>
              <a:gdLst/>
              <a:ahLst/>
              <a:cxnLst/>
              <a:rect r="r" b="b" t="t" l="l"/>
              <a:pathLst>
                <a:path h="2090180" w="1466201">
                  <a:moveTo>
                    <a:pt x="27814" y="0"/>
                  </a:moveTo>
                  <a:lnTo>
                    <a:pt x="1438387" y="0"/>
                  </a:lnTo>
                  <a:cubicBezTo>
                    <a:pt x="1453748" y="0"/>
                    <a:pt x="1466201" y="12453"/>
                    <a:pt x="1466201" y="27814"/>
                  </a:cubicBezTo>
                  <a:lnTo>
                    <a:pt x="1466201" y="2062366"/>
                  </a:lnTo>
                  <a:cubicBezTo>
                    <a:pt x="1466201" y="2077727"/>
                    <a:pt x="1453748" y="2090180"/>
                    <a:pt x="1438387" y="2090180"/>
                  </a:cubicBezTo>
                  <a:lnTo>
                    <a:pt x="27814" y="2090180"/>
                  </a:lnTo>
                  <a:cubicBezTo>
                    <a:pt x="12453" y="2090180"/>
                    <a:pt x="0" y="2077727"/>
                    <a:pt x="0" y="2062366"/>
                  </a:cubicBezTo>
                  <a:lnTo>
                    <a:pt x="0" y="27814"/>
                  </a:lnTo>
                  <a:cubicBezTo>
                    <a:pt x="0" y="12453"/>
                    <a:pt x="12453" y="0"/>
                    <a:pt x="27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6201" cy="2118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86926" y="2805088"/>
            <a:ext cx="4901066" cy="626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AI M</a:t>
            </a:r>
            <a:r>
              <a:rPr lang="en-US" sz="2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issed</a:t>
            </a:r>
          </a:p>
          <a:p>
            <a:pPr algn="ctr">
              <a:lnSpc>
                <a:spcPts val="4159"/>
              </a:lnSpc>
            </a:pPr>
          </a:p>
          <a:p>
            <a:pPr algn="l" marL="641514" indent="-320757" lvl="1">
              <a:lnSpc>
                <a:spcPts val="4159"/>
              </a:lnSpc>
              <a:buFont typeface="Arial"/>
              <a:buChar char="•"/>
            </a:pPr>
            <a:r>
              <a:rPr lang="en-US" sz="29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Tropicana sweetness concerns in consumer reviews</a:t>
            </a:r>
          </a:p>
          <a:p>
            <a:pPr algn="ctr">
              <a:lnSpc>
                <a:spcPts val="4159"/>
              </a:lnSpc>
            </a:pPr>
          </a:p>
          <a:p>
            <a:pPr algn="l" marL="641514" indent="-320757" lvl="1">
              <a:lnSpc>
                <a:spcPts val="4159"/>
              </a:lnSpc>
              <a:buFont typeface="Arial"/>
              <a:buChar char="•"/>
            </a:pPr>
            <a:r>
              <a:rPr lang="en-US" sz="29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Paper Boat shelf-life concerns</a:t>
            </a:r>
          </a:p>
          <a:p>
            <a:pPr algn="ctr">
              <a:lnSpc>
                <a:spcPts val="4159"/>
              </a:lnSpc>
            </a:pPr>
          </a:p>
          <a:p>
            <a:pPr algn="l" marL="641514" indent="-320757" lvl="1">
              <a:lnSpc>
                <a:spcPts val="4159"/>
              </a:lnSpc>
              <a:buFont typeface="Arial"/>
              <a:buChar char="•"/>
            </a:pPr>
            <a:r>
              <a:rPr lang="en-US" sz="29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diabetic/low-glycemic need state</a:t>
            </a:r>
          </a:p>
          <a:p>
            <a:pPr algn="ctr">
              <a:lnSpc>
                <a:spcPts val="41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633147" y="2403305"/>
            <a:ext cx="4725125" cy="811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Refinements Made</a:t>
            </a:r>
          </a:p>
          <a:p>
            <a:pPr algn="ctr">
              <a:lnSpc>
                <a:spcPts val="4159"/>
              </a:lnSpc>
            </a:pPr>
          </a:p>
          <a:p>
            <a:pPr algn="l" marL="619925" indent="-309963" lvl="1">
              <a:lnSpc>
                <a:spcPts val="4019"/>
              </a:lnSpc>
              <a:buFont typeface="Arial"/>
              <a:buChar char="•"/>
            </a:pPr>
            <a:r>
              <a:rPr lang="en-US" sz="28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</a:t>
            </a:r>
            <a:r>
              <a:rPr lang="en-US" sz="28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ined Y-axis to Consumer-Perceived Sugar &amp; Processing Transparency</a:t>
            </a:r>
          </a:p>
          <a:p>
            <a:pPr algn="l">
              <a:lnSpc>
                <a:spcPts val="4019"/>
              </a:lnSpc>
            </a:pPr>
          </a:p>
          <a:p>
            <a:pPr algn="l" marL="619925" indent="-309963" lvl="1">
              <a:lnSpc>
                <a:spcPts val="4019"/>
              </a:lnSpc>
              <a:buFont typeface="Arial"/>
              <a:buChar char="•"/>
            </a:pPr>
            <a:r>
              <a:rPr lang="en-US" sz="28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Shifted Tropicana downward based on consumer feedback</a:t>
            </a:r>
          </a:p>
          <a:p>
            <a:pPr algn="l">
              <a:lnSpc>
                <a:spcPts val="4019"/>
              </a:lnSpc>
            </a:pPr>
          </a:p>
          <a:p>
            <a:pPr algn="l" marL="619925" indent="-309963" lvl="1">
              <a:lnSpc>
                <a:spcPts val="4019"/>
              </a:lnSpc>
              <a:buFont typeface="Arial"/>
              <a:buChar char="•"/>
            </a:pPr>
            <a:r>
              <a:rPr lang="en-US" sz="28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Sharp</a:t>
            </a:r>
            <a:r>
              <a:rPr lang="en-US" sz="28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ened white space to Zero-Sugar Ethnic Wellness</a:t>
            </a:r>
          </a:p>
          <a:p>
            <a:pPr algn="l">
              <a:lnSpc>
                <a:spcPts val="4019"/>
              </a:lnSpc>
              <a:spcBef>
                <a:spcPct val="0"/>
              </a:spcBef>
            </a:pPr>
          </a:p>
          <a:p>
            <a:pPr algn="ctr">
              <a:lnSpc>
                <a:spcPts val="41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6122" y="7826176"/>
            <a:ext cx="345156" cy="3451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82124" y="9195545"/>
            <a:ext cx="1971124" cy="19711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99338" y="2268286"/>
            <a:ext cx="6282787" cy="6884120"/>
            <a:chOff x="0" y="0"/>
            <a:chExt cx="1654726" cy="18131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4726" cy="1813102"/>
            </a:xfrm>
            <a:custGeom>
              <a:avLst/>
              <a:gdLst/>
              <a:ahLst/>
              <a:cxnLst/>
              <a:rect r="r" b="b" t="t" l="l"/>
              <a:pathLst>
                <a:path h="1813102" w="1654726">
                  <a:moveTo>
                    <a:pt x="24645" y="0"/>
                  </a:moveTo>
                  <a:lnTo>
                    <a:pt x="1630081" y="0"/>
                  </a:lnTo>
                  <a:cubicBezTo>
                    <a:pt x="1643692" y="0"/>
                    <a:pt x="1654726" y="11034"/>
                    <a:pt x="1654726" y="24645"/>
                  </a:cubicBezTo>
                  <a:lnTo>
                    <a:pt x="1654726" y="1788457"/>
                  </a:lnTo>
                  <a:cubicBezTo>
                    <a:pt x="1654726" y="1802068"/>
                    <a:pt x="1643692" y="1813102"/>
                    <a:pt x="1630081" y="1813102"/>
                  </a:cubicBezTo>
                  <a:lnTo>
                    <a:pt x="24645" y="1813102"/>
                  </a:lnTo>
                  <a:cubicBezTo>
                    <a:pt x="11034" y="1813102"/>
                    <a:pt x="0" y="1802068"/>
                    <a:pt x="0" y="1788457"/>
                  </a:cubicBezTo>
                  <a:lnTo>
                    <a:pt x="0" y="24645"/>
                  </a:lnTo>
                  <a:cubicBezTo>
                    <a:pt x="0" y="11034"/>
                    <a:pt x="11034" y="0"/>
                    <a:pt x="246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654726" cy="1841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680271" y="2594577"/>
            <a:ext cx="5783284" cy="616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9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Position Shift Rationale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Tropic</a:t>
            </a:r>
            <a:r>
              <a:rPr lang="en-US" b="true" sz="18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 Shift Downward: </a:t>
            </a: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Moved from top health tier to mid-lower tier based on consumer review evidence complaining of excessive sweetness and hidden syrup concentrates.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Paper Boat Anchor:</a:t>
            </a: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Retained in Ethnic quadrant but lower Y-axis </a:t>
            </a: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position to reflect high sugar content (11-13g per 100ml) and shelf-life vulnerability.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Unoccupied White Space: </a:t>
            </a: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incumbent occupies the Top-Right quadrant combining authentic Indian regional recipes with true zero-added-sugar, clean-label formulation.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37553" y="791430"/>
            <a:ext cx="1449759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Validated 2x2 Perceptual Positioning Map</a:t>
            </a:r>
          </a:p>
          <a:p>
            <a:pPr algn="l">
              <a:lnSpc>
                <a:spcPts val="59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37553" y="1534380"/>
            <a:ext cx="1471631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Grounding Brand Placements in Consumer Evidence &amp; Revealing White Space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AutoShape 14" id="14"/>
          <p:cNvSpPr/>
          <p:nvPr/>
        </p:nvSpPr>
        <p:spPr>
          <a:xfrm>
            <a:off x="1627074" y="5904813"/>
            <a:ext cx="85942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5787110" y="276606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855674" y="3185929"/>
            <a:ext cx="3101953" cy="1915224"/>
            <a:chOff x="0" y="0"/>
            <a:chExt cx="2160342" cy="1333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60342" cy="1333850"/>
            </a:xfrm>
            <a:custGeom>
              <a:avLst/>
              <a:gdLst/>
              <a:ahLst/>
              <a:cxnLst/>
              <a:rect r="r" b="b" t="t" l="l"/>
              <a:pathLst>
                <a:path h="1333850" w="2160342">
                  <a:moveTo>
                    <a:pt x="49916" y="0"/>
                  </a:moveTo>
                  <a:lnTo>
                    <a:pt x="2110426" y="0"/>
                  </a:lnTo>
                  <a:cubicBezTo>
                    <a:pt x="2137994" y="0"/>
                    <a:pt x="2160342" y="22348"/>
                    <a:pt x="2160342" y="49916"/>
                  </a:cubicBezTo>
                  <a:lnTo>
                    <a:pt x="2160342" y="1283934"/>
                  </a:lnTo>
                  <a:cubicBezTo>
                    <a:pt x="2160342" y="1297172"/>
                    <a:pt x="2155083" y="1309869"/>
                    <a:pt x="2145722" y="1319230"/>
                  </a:cubicBezTo>
                  <a:cubicBezTo>
                    <a:pt x="2136361" y="1328591"/>
                    <a:pt x="2123664" y="1333850"/>
                    <a:pt x="2110426" y="1333850"/>
                  </a:cubicBezTo>
                  <a:lnTo>
                    <a:pt x="49916" y="1333850"/>
                  </a:lnTo>
                  <a:cubicBezTo>
                    <a:pt x="36678" y="1333850"/>
                    <a:pt x="23981" y="1328591"/>
                    <a:pt x="14620" y="1319230"/>
                  </a:cubicBezTo>
                  <a:cubicBezTo>
                    <a:pt x="5259" y="1309869"/>
                    <a:pt x="0" y="1297172"/>
                    <a:pt x="0" y="1283934"/>
                  </a:cubicBezTo>
                  <a:lnTo>
                    <a:pt x="0" y="49916"/>
                  </a:lnTo>
                  <a:cubicBezTo>
                    <a:pt x="0" y="36678"/>
                    <a:pt x="5259" y="23981"/>
                    <a:pt x="14620" y="14620"/>
                  </a:cubicBezTo>
                  <a:cubicBezTo>
                    <a:pt x="23981" y="5259"/>
                    <a:pt x="36678" y="0"/>
                    <a:pt x="499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60342" cy="136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928676" y="3294050"/>
            <a:ext cx="2972608" cy="174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Réal</a:t>
            </a:r>
            <a:r>
              <a:rPr lang="en-US" b="true" sz="165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Activ &amp; Tropicana 100%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165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Zero sugar claims, but Western flavors &amp; concentrate complaints.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627074" y="2248755"/>
            <a:ext cx="88828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▲ High Perceived Transparency / Zero Added Sugar (Diabetic Friendly)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95709" y="5866713"/>
            <a:ext cx="246054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Ethnic Indian ▶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(Aam Panna, Jamun)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9230" y="5981335"/>
            <a:ext cx="185868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◀ Global Staples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(Orange, Apple)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97562" y="9286875"/>
            <a:ext cx="674191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▼ Reconstituted Concentrate / High Added &amp; Hidden Sugar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144796" y="3224833"/>
            <a:ext cx="3509190" cy="2008067"/>
            <a:chOff x="0" y="0"/>
            <a:chExt cx="2443961" cy="1398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43961" cy="1398510"/>
            </a:xfrm>
            <a:custGeom>
              <a:avLst/>
              <a:gdLst/>
              <a:ahLst/>
              <a:cxnLst/>
              <a:rect r="r" b="b" t="t" l="l"/>
              <a:pathLst>
                <a:path h="1398510" w="2443961">
                  <a:moveTo>
                    <a:pt x="44124" y="0"/>
                  </a:moveTo>
                  <a:lnTo>
                    <a:pt x="2399837" y="0"/>
                  </a:lnTo>
                  <a:cubicBezTo>
                    <a:pt x="2411540" y="0"/>
                    <a:pt x="2422763" y="4649"/>
                    <a:pt x="2431038" y="12924"/>
                  </a:cubicBezTo>
                  <a:cubicBezTo>
                    <a:pt x="2439312" y="21198"/>
                    <a:pt x="2443961" y="32421"/>
                    <a:pt x="2443961" y="44124"/>
                  </a:cubicBezTo>
                  <a:lnTo>
                    <a:pt x="2443961" y="1354387"/>
                  </a:lnTo>
                  <a:cubicBezTo>
                    <a:pt x="2443961" y="1378755"/>
                    <a:pt x="2424206" y="1398510"/>
                    <a:pt x="2399837" y="1398510"/>
                  </a:cubicBezTo>
                  <a:lnTo>
                    <a:pt x="44124" y="1398510"/>
                  </a:lnTo>
                  <a:cubicBezTo>
                    <a:pt x="32421" y="1398510"/>
                    <a:pt x="21198" y="1393861"/>
                    <a:pt x="12924" y="1385587"/>
                  </a:cubicBezTo>
                  <a:cubicBezTo>
                    <a:pt x="4649" y="1377312"/>
                    <a:pt x="0" y="1366089"/>
                    <a:pt x="0" y="1354387"/>
                  </a:cubicBezTo>
                  <a:lnTo>
                    <a:pt x="0" y="44124"/>
                  </a:lnTo>
                  <a:cubicBezTo>
                    <a:pt x="0" y="32421"/>
                    <a:pt x="4649" y="21198"/>
                    <a:pt x="12924" y="12924"/>
                  </a:cubicBezTo>
                  <a:cubicBezTo>
                    <a:pt x="21198" y="4649"/>
                    <a:pt x="32421" y="0"/>
                    <a:pt x="441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443961" cy="1427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348415" y="3294050"/>
            <a:ext cx="3101953" cy="209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★</a:t>
            </a:r>
            <a:r>
              <a:rPr lang="en-US" b="true" sz="165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WHITE SPACE: Zingyy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165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Clean-Label, Zero-Added-Sugar Ethnic Wellness.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165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100% Real Pulp + Botanicals, Diabetic-Friendly.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766575" y="6848107"/>
            <a:ext cx="3436188" cy="1915224"/>
            <a:chOff x="0" y="0"/>
            <a:chExt cx="2393119" cy="1333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93119" cy="1333850"/>
            </a:xfrm>
            <a:custGeom>
              <a:avLst/>
              <a:gdLst/>
              <a:ahLst/>
              <a:cxnLst/>
              <a:rect r="r" b="b" t="t" l="l"/>
              <a:pathLst>
                <a:path h="1333850" w="2393119">
                  <a:moveTo>
                    <a:pt x="45061" y="0"/>
                  </a:moveTo>
                  <a:lnTo>
                    <a:pt x="2348058" y="0"/>
                  </a:lnTo>
                  <a:cubicBezTo>
                    <a:pt x="2372944" y="0"/>
                    <a:pt x="2393119" y="20175"/>
                    <a:pt x="2393119" y="45061"/>
                  </a:cubicBezTo>
                  <a:lnTo>
                    <a:pt x="2393119" y="1288789"/>
                  </a:lnTo>
                  <a:cubicBezTo>
                    <a:pt x="2393119" y="1313675"/>
                    <a:pt x="2372944" y="1333850"/>
                    <a:pt x="2348058" y="1333850"/>
                  </a:cubicBezTo>
                  <a:lnTo>
                    <a:pt x="45061" y="1333850"/>
                  </a:lnTo>
                  <a:cubicBezTo>
                    <a:pt x="20175" y="1333850"/>
                    <a:pt x="0" y="1313675"/>
                    <a:pt x="0" y="1288789"/>
                  </a:cubicBezTo>
                  <a:lnTo>
                    <a:pt x="0" y="45061"/>
                  </a:lnTo>
                  <a:cubicBezTo>
                    <a:pt x="0" y="20175"/>
                    <a:pt x="20175" y="0"/>
                    <a:pt x="450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393119" cy="136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55674" y="7020878"/>
            <a:ext cx="3347089" cy="174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Dabur Réal</a:t>
            </a:r>
            <a:r>
              <a:rPr lang="en-US" b="true" sz="165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&amp; Tropicana Delight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165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Mass market leaders; heavy added sugar &amp; reconstituted concentrates.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6254936" y="6848107"/>
            <a:ext cx="3399051" cy="1915224"/>
            <a:chOff x="0" y="0"/>
            <a:chExt cx="2367255" cy="1333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67255" cy="1333850"/>
            </a:xfrm>
            <a:custGeom>
              <a:avLst/>
              <a:gdLst/>
              <a:ahLst/>
              <a:cxnLst/>
              <a:rect r="r" b="b" t="t" l="l"/>
              <a:pathLst>
                <a:path h="1333850" w="2367255">
                  <a:moveTo>
                    <a:pt x="45553" y="0"/>
                  </a:moveTo>
                  <a:lnTo>
                    <a:pt x="2321701" y="0"/>
                  </a:lnTo>
                  <a:cubicBezTo>
                    <a:pt x="2346860" y="0"/>
                    <a:pt x="2367255" y="20395"/>
                    <a:pt x="2367255" y="45553"/>
                  </a:cubicBezTo>
                  <a:lnTo>
                    <a:pt x="2367255" y="1288297"/>
                  </a:lnTo>
                  <a:cubicBezTo>
                    <a:pt x="2367255" y="1300378"/>
                    <a:pt x="2362455" y="1311965"/>
                    <a:pt x="2353913" y="1320508"/>
                  </a:cubicBezTo>
                  <a:cubicBezTo>
                    <a:pt x="2345369" y="1329051"/>
                    <a:pt x="2333783" y="1333850"/>
                    <a:pt x="2321701" y="1333850"/>
                  </a:cubicBezTo>
                  <a:lnTo>
                    <a:pt x="45553" y="1333850"/>
                  </a:lnTo>
                  <a:cubicBezTo>
                    <a:pt x="33472" y="1333850"/>
                    <a:pt x="21885" y="1329051"/>
                    <a:pt x="13342" y="1320508"/>
                  </a:cubicBezTo>
                  <a:cubicBezTo>
                    <a:pt x="4799" y="1311965"/>
                    <a:pt x="0" y="1300378"/>
                    <a:pt x="0" y="1288297"/>
                  </a:cubicBezTo>
                  <a:lnTo>
                    <a:pt x="0" y="45553"/>
                  </a:lnTo>
                  <a:cubicBezTo>
                    <a:pt x="0" y="20395"/>
                    <a:pt x="20395" y="0"/>
                    <a:pt x="455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367255" cy="136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468157" y="6943682"/>
            <a:ext cx="2972608" cy="174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</a:t>
            </a:r>
            <a:r>
              <a:rPr lang="en-US" b="true" sz="165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Boat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165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Ethnic flavor pioneer, but high added sugar (11-13g/100ml) &amp; short shelf-life.</a:t>
            </a:r>
          </a:p>
          <a:p>
            <a:pPr algn="l" marL="0" indent="0" lvl="0">
              <a:lnSpc>
                <a:spcPts val="282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685" y="2551069"/>
            <a:ext cx="7799315" cy="6545019"/>
            <a:chOff x="0" y="0"/>
            <a:chExt cx="2054140" cy="1723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4141" cy="1723791"/>
            </a:xfrm>
            <a:custGeom>
              <a:avLst/>
              <a:gdLst/>
              <a:ahLst/>
              <a:cxnLst/>
              <a:rect r="r" b="b" t="t" l="l"/>
              <a:pathLst>
                <a:path h="1723791" w="2054141">
                  <a:moveTo>
                    <a:pt x="19853" y="0"/>
                  </a:moveTo>
                  <a:lnTo>
                    <a:pt x="2034288" y="0"/>
                  </a:lnTo>
                  <a:cubicBezTo>
                    <a:pt x="2039553" y="0"/>
                    <a:pt x="2044603" y="2092"/>
                    <a:pt x="2048326" y="5815"/>
                  </a:cubicBezTo>
                  <a:cubicBezTo>
                    <a:pt x="2052049" y="9538"/>
                    <a:pt x="2054141" y="14588"/>
                    <a:pt x="2054141" y="19853"/>
                  </a:cubicBezTo>
                  <a:lnTo>
                    <a:pt x="2054141" y="1703938"/>
                  </a:lnTo>
                  <a:cubicBezTo>
                    <a:pt x="2054141" y="1714903"/>
                    <a:pt x="2045252" y="1723791"/>
                    <a:pt x="2034288" y="1723791"/>
                  </a:cubicBezTo>
                  <a:lnTo>
                    <a:pt x="19853" y="1723791"/>
                  </a:lnTo>
                  <a:cubicBezTo>
                    <a:pt x="14588" y="1723791"/>
                    <a:pt x="9538" y="1721700"/>
                    <a:pt x="5815" y="1717976"/>
                  </a:cubicBezTo>
                  <a:cubicBezTo>
                    <a:pt x="2092" y="1714253"/>
                    <a:pt x="0" y="1709204"/>
                    <a:pt x="0" y="1703938"/>
                  </a:cubicBezTo>
                  <a:lnTo>
                    <a:pt x="0" y="19853"/>
                  </a:lnTo>
                  <a:cubicBezTo>
                    <a:pt x="0" y="14588"/>
                    <a:pt x="2092" y="9538"/>
                    <a:pt x="5815" y="5815"/>
                  </a:cubicBezTo>
                  <a:cubicBezTo>
                    <a:pt x="9538" y="2092"/>
                    <a:pt x="14588" y="0"/>
                    <a:pt x="198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054140" cy="1752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8210" y="800343"/>
            <a:ext cx="13740655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</a:pPr>
            <a:r>
              <a:rPr lang="en-US" sz="506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White-Space Rationale &amp; Customer Axes</a:t>
            </a:r>
          </a:p>
          <a:p>
            <a:pPr algn="ctr">
              <a:lnSpc>
                <a:spcPts val="87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625559" y="2551356"/>
            <a:ext cx="7800859" cy="6544732"/>
            <a:chOff x="0" y="0"/>
            <a:chExt cx="2054547" cy="17237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4547" cy="1723715"/>
            </a:xfrm>
            <a:custGeom>
              <a:avLst/>
              <a:gdLst/>
              <a:ahLst/>
              <a:cxnLst/>
              <a:rect r="r" b="b" t="t" l="l"/>
              <a:pathLst>
                <a:path h="1723715" w="2054547">
                  <a:moveTo>
                    <a:pt x="19849" y="0"/>
                  </a:moveTo>
                  <a:lnTo>
                    <a:pt x="2034698" y="0"/>
                  </a:lnTo>
                  <a:cubicBezTo>
                    <a:pt x="2039962" y="0"/>
                    <a:pt x="2045011" y="2091"/>
                    <a:pt x="2048733" y="5814"/>
                  </a:cubicBezTo>
                  <a:cubicBezTo>
                    <a:pt x="2052456" y="9536"/>
                    <a:pt x="2054547" y="14585"/>
                    <a:pt x="2054547" y="19849"/>
                  </a:cubicBezTo>
                  <a:lnTo>
                    <a:pt x="2054547" y="1703866"/>
                  </a:lnTo>
                  <a:cubicBezTo>
                    <a:pt x="2054547" y="1709131"/>
                    <a:pt x="2052456" y="1714179"/>
                    <a:pt x="2048733" y="1717902"/>
                  </a:cubicBezTo>
                  <a:cubicBezTo>
                    <a:pt x="2045011" y="1721624"/>
                    <a:pt x="2039962" y="1723715"/>
                    <a:pt x="2034698" y="1723715"/>
                  </a:cubicBezTo>
                  <a:lnTo>
                    <a:pt x="19849" y="1723715"/>
                  </a:lnTo>
                  <a:cubicBezTo>
                    <a:pt x="14585" y="1723715"/>
                    <a:pt x="9536" y="1721624"/>
                    <a:pt x="5814" y="1717902"/>
                  </a:cubicBezTo>
                  <a:cubicBezTo>
                    <a:pt x="2091" y="1714179"/>
                    <a:pt x="0" y="1709131"/>
                    <a:pt x="0" y="1703866"/>
                  </a:cubicBezTo>
                  <a:lnTo>
                    <a:pt x="0" y="19849"/>
                  </a:lnTo>
                  <a:cubicBezTo>
                    <a:pt x="0" y="14585"/>
                    <a:pt x="2091" y="9536"/>
                    <a:pt x="5814" y="5814"/>
                  </a:cubicBezTo>
                  <a:cubicBezTo>
                    <a:pt x="9536" y="2091"/>
                    <a:pt x="14585" y="0"/>
                    <a:pt x="19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54547" cy="1752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80718" y="2712086"/>
            <a:ext cx="714205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the Axes Are Customer-Relevant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80718" y="3280411"/>
            <a:ext cx="7514627" cy="570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Axis X (Glo</a:t>
            </a: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bal Staples vs. Ethnic Indian):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Reflects a fundamental cultural tension in Indian retail. Consumers crave nostalgic home recipes (Aam Panna, Jamun, Kokum) over generic Western orange/apple juices.</a:t>
            </a:r>
          </a:p>
          <a:p>
            <a:pPr algn="l">
              <a:lnSpc>
                <a:spcPts val="3230"/>
              </a:lnSpc>
              <a:spcBef>
                <a:spcPct val="0"/>
              </a:spcBef>
            </a:pPr>
          </a:p>
          <a:p>
            <a:pPr algn="l">
              <a:lnSpc>
                <a:spcPts val="3230"/>
              </a:lnSpc>
              <a:spcBef>
                <a:spcPct val="0"/>
              </a:spcBef>
            </a:pP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Ax</a:t>
            </a: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 Y (Hidden Sugar vs. Zero-Added-Sugar Transparency):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Captures the primary decision trigger for modern urban shoppers. With rising health literacy and label-reading apps, consumers scrutinize back-of-pack added sugar.</a:t>
            </a:r>
          </a:p>
          <a:p>
            <a:pPr algn="l">
              <a:lnSpc>
                <a:spcPts val="3230"/>
              </a:lnSpc>
              <a:spcBef>
                <a:spcPct val="0"/>
              </a:spcBef>
            </a:pPr>
          </a:p>
          <a:p>
            <a:pPr algn="l">
              <a:lnSpc>
                <a:spcPts val="3230"/>
              </a:lnSpc>
              <a:spcBef>
                <a:spcPct val="0"/>
              </a:spcBef>
            </a:pP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Grounded in Real Trade Behavior: 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Unlike vague lifestyle axes (e.g., 'Fun vs. Serious'), these axes directly govern consumer purchase decisions at the shelf or on Q-Commerce apps.</a:t>
            </a: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969856" y="2675181"/>
            <a:ext cx="608488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the White Space is Realistic &amp; Actionable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899071" y="3689986"/>
            <a:ext cx="7253835" cy="529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'Guilt-Free N</a:t>
            </a: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ostalgia' Gap: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Urban consumers love Paper Boat's ethnic flavors but feel guilty drinking them daily due to sugar content. A zero-sugar alternative resolves this conflict.</a:t>
            </a: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Clinical &amp; Lifestyle Demand Surge: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India is the diabetes capital of the world. Over 100M+ diabetic/pre-diabetic individuals and health-conscious Gen Zs actively seek low-glycemic, guilt-free Indian drinks.</a:t>
            </a: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  <a:r>
              <a:rPr lang="en-US" b="true" sz="19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Unlocked by Cold-Processing Tech: 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Modern HPP (High-Pressure Processing) allows clean extraction of real fruit pulp &amp; botanicals without adding sugar or thermal degradation.</a:t>
            </a: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11416" y="1700456"/>
            <a:ext cx="1230088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Axe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White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Space 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 S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tegically Sou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&amp; Realis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34538" y="4772063"/>
            <a:ext cx="243672" cy="24367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8210" y="4438003"/>
            <a:ext cx="408184" cy="4081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394" y="2713281"/>
            <a:ext cx="4567347" cy="6545019"/>
            <a:chOff x="0" y="0"/>
            <a:chExt cx="1202923" cy="1723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923" cy="1723791"/>
            </a:xfrm>
            <a:custGeom>
              <a:avLst/>
              <a:gdLst/>
              <a:ahLst/>
              <a:cxnLst/>
              <a:rect r="r" b="b" t="t" l="l"/>
              <a:pathLst>
                <a:path h="1723791" w="1202923">
                  <a:moveTo>
                    <a:pt x="33901" y="0"/>
                  </a:moveTo>
                  <a:lnTo>
                    <a:pt x="1169022" y="0"/>
                  </a:lnTo>
                  <a:cubicBezTo>
                    <a:pt x="1187745" y="0"/>
                    <a:pt x="1202923" y="15178"/>
                    <a:pt x="1202923" y="33901"/>
                  </a:cubicBezTo>
                  <a:lnTo>
                    <a:pt x="1202923" y="1689890"/>
                  </a:lnTo>
                  <a:cubicBezTo>
                    <a:pt x="1202923" y="1698881"/>
                    <a:pt x="1199351" y="1707504"/>
                    <a:pt x="1192993" y="1713862"/>
                  </a:cubicBezTo>
                  <a:cubicBezTo>
                    <a:pt x="1186636" y="1720219"/>
                    <a:pt x="1178013" y="1723791"/>
                    <a:pt x="1169022" y="1723791"/>
                  </a:cubicBezTo>
                  <a:lnTo>
                    <a:pt x="33901" y="1723791"/>
                  </a:lnTo>
                  <a:cubicBezTo>
                    <a:pt x="24910" y="1723791"/>
                    <a:pt x="16287" y="1720219"/>
                    <a:pt x="9929" y="1713862"/>
                  </a:cubicBezTo>
                  <a:cubicBezTo>
                    <a:pt x="3572" y="1707504"/>
                    <a:pt x="0" y="1698881"/>
                    <a:pt x="0" y="1689890"/>
                  </a:cubicBezTo>
                  <a:lnTo>
                    <a:pt x="0" y="33901"/>
                  </a:lnTo>
                  <a:cubicBezTo>
                    <a:pt x="0" y="15178"/>
                    <a:pt x="15178" y="0"/>
                    <a:pt x="33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02923" cy="1752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11016" y="2713281"/>
            <a:ext cx="4865968" cy="6545019"/>
            <a:chOff x="0" y="0"/>
            <a:chExt cx="1281572" cy="1723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1572" cy="1723791"/>
            </a:xfrm>
            <a:custGeom>
              <a:avLst/>
              <a:gdLst/>
              <a:ahLst/>
              <a:cxnLst/>
              <a:rect r="r" b="b" t="t" l="l"/>
              <a:pathLst>
                <a:path h="1723791" w="1281572">
                  <a:moveTo>
                    <a:pt x="31821" y="0"/>
                  </a:moveTo>
                  <a:lnTo>
                    <a:pt x="1249751" y="0"/>
                  </a:lnTo>
                  <a:cubicBezTo>
                    <a:pt x="1258191" y="0"/>
                    <a:pt x="1266284" y="3353"/>
                    <a:pt x="1272252" y="9320"/>
                  </a:cubicBezTo>
                  <a:cubicBezTo>
                    <a:pt x="1278219" y="15288"/>
                    <a:pt x="1281572" y="23381"/>
                    <a:pt x="1281572" y="31821"/>
                  </a:cubicBezTo>
                  <a:lnTo>
                    <a:pt x="1281572" y="1691970"/>
                  </a:lnTo>
                  <a:cubicBezTo>
                    <a:pt x="1281572" y="1700410"/>
                    <a:pt x="1278219" y="1708503"/>
                    <a:pt x="1272252" y="1714471"/>
                  </a:cubicBezTo>
                  <a:cubicBezTo>
                    <a:pt x="1266284" y="1720439"/>
                    <a:pt x="1258191" y="1723791"/>
                    <a:pt x="1249751" y="1723791"/>
                  </a:cubicBezTo>
                  <a:lnTo>
                    <a:pt x="31821" y="1723791"/>
                  </a:lnTo>
                  <a:cubicBezTo>
                    <a:pt x="23381" y="1723791"/>
                    <a:pt x="15288" y="1720439"/>
                    <a:pt x="9320" y="1714471"/>
                  </a:cubicBezTo>
                  <a:cubicBezTo>
                    <a:pt x="3353" y="1708503"/>
                    <a:pt x="0" y="1700410"/>
                    <a:pt x="0" y="1691970"/>
                  </a:cubicBezTo>
                  <a:lnTo>
                    <a:pt x="0" y="31821"/>
                  </a:lnTo>
                  <a:cubicBezTo>
                    <a:pt x="0" y="23381"/>
                    <a:pt x="3353" y="15288"/>
                    <a:pt x="9320" y="9320"/>
                  </a:cubicBezTo>
                  <a:cubicBezTo>
                    <a:pt x="15288" y="3353"/>
                    <a:pt x="23381" y="0"/>
                    <a:pt x="318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81572" cy="1752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17219" y="874956"/>
            <a:ext cx="1325787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2"/>
              </a:lnSpc>
            </a:pPr>
            <a:r>
              <a:rPr lang="en-US" sz="496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New Entrant Strategic Proposal: Zingyy </a:t>
            </a:r>
          </a:p>
          <a:p>
            <a:pPr algn="ctr">
              <a:lnSpc>
                <a:spcPts val="86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954638" y="2713281"/>
            <a:ext cx="4884484" cy="6545019"/>
            <a:chOff x="0" y="0"/>
            <a:chExt cx="1286448" cy="1723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6448" cy="1723791"/>
            </a:xfrm>
            <a:custGeom>
              <a:avLst/>
              <a:gdLst/>
              <a:ahLst/>
              <a:cxnLst/>
              <a:rect r="r" b="b" t="t" l="l"/>
              <a:pathLst>
                <a:path h="1723791" w="1286448">
                  <a:moveTo>
                    <a:pt x="31700" y="0"/>
                  </a:moveTo>
                  <a:lnTo>
                    <a:pt x="1254748" y="0"/>
                  </a:lnTo>
                  <a:cubicBezTo>
                    <a:pt x="1263156" y="0"/>
                    <a:pt x="1271219" y="3340"/>
                    <a:pt x="1277164" y="9285"/>
                  </a:cubicBezTo>
                  <a:cubicBezTo>
                    <a:pt x="1283109" y="15230"/>
                    <a:pt x="1286448" y="23293"/>
                    <a:pt x="1286448" y="31700"/>
                  </a:cubicBezTo>
                  <a:lnTo>
                    <a:pt x="1286448" y="1692091"/>
                  </a:lnTo>
                  <a:cubicBezTo>
                    <a:pt x="1286448" y="1700498"/>
                    <a:pt x="1283109" y="1708561"/>
                    <a:pt x="1277164" y="1714506"/>
                  </a:cubicBezTo>
                  <a:cubicBezTo>
                    <a:pt x="1271219" y="1720451"/>
                    <a:pt x="1263156" y="1723791"/>
                    <a:pt x="1254748" y="1723791"/>
                  </a:cubicBezTo>
                  <a:lnTo>
                    <a:pt x="31700" y="1723791"/>
                  </a:lnTo>
                  <a:cubicBezTo>
                    <a:pt x="23293" y="1723791"/>
                    <a:pt x="15230" y="1720451"/>
                    <a:pt x="9285" y="1714506"/>
                  </a:cubicBezTo>
                  <a:cubicBezTo>
                    <a:pt x="3340" y="1708561"/>
                    <a:pt x="0" y="1700498"/>
                    <a:pt x="0" y="1692091"/>
                  </a:cubicBezTo>
                  <a:lnTo>
                    <a:pt x="0" y="31700"/>
                  </a:lnTo>
                  <a:cubicBezTo>
                    <a:pt x="0" y="23293"/>
                    <a:pt x="3340" y="15230"/>
                    <a:pt x="9285" y="9285"/>
                  </a:cubicBezTo>
                  <a:cubicBezTo>
                    <a:pt x="15230" y="3340"/>
                    <a:pt x="23293" y="0"/>
                    <a:pt x="31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86448" cy="1752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11205" y="2874298"/>
            <a:ext cx="433083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Brand Identity: Zingyy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861858" y="2874298"/>
            <a:ext cx="456428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Defined Target Segment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55951" y="4104928"/>
            <a:ext cx="4241339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Zesty &amp; F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resh – Instantly conveys freshness and flavour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High Energy – Suggests vibrancy, excitement &amp; fun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Modern &amp; Youthful – Designed for today’s consumers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Gen Z &amp; Millennials – Strong appeal to younger audiences</a:t>
            </a:r>
          </a:p>
          <a:p>
            <a:pPr algn="l" marL="388622" indent="-194311" lvl="1">
              <a:lnSpc>
                <a:spcPts val="30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Distinctive – Stands out from traditional corporate names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Memorable – Short, catchy &amp; easy to recall</a:t>
            </a: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838187" y="3302288"/>
            <a:ext cx="4738797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rban Indians (18–42) – Gen Z, Millennials &amp; professionals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Health-Conscious Parents – Seeking healthier beverage choices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Clinical Segment – Diabetic &amp; pre-diabetic households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Fitness Enthusiasts – Gym-goers &amp; active consumers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Label-Scrutinizing Mothers – Focused on ingredients &amp; nutrition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Psychographics – Seek authentic cultural refreshment</a:t>
            </a:r>
          </a:p>
          <a:p>
            <a:pPr algn="l" marL="410211" indent="-205106" lvl="1">
              <a:lnSpc>
                <a:spcPts val="3230"/>
              </a:lnSpc>
              <a:spcBef>
                <a:spcPct val="0"/>
              </a:spcBef>
              <a:buFont typeface="Arial"/>
              <a:buChar char="•"/>
            </a:pPr>
            <a:r>
              <a:rPr lang="en-US" sz="19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Key Need – Refreshment without sugar guilt or lethargy</a:t>
            </a:r>
          </a:p>
          <a:p>
            <a:pPr algn="l" marL="0" indent="0" lvl="0">
              <a:lnSpc>
                <a:spcPts val="323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818903" y="2788573"/>
            <a:ext cx="5267869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159" u="sng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Formal Positioning Statement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300884" y="3691543"/>
            <a:ext cx="4315613" cy="512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"F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or urban Indian consumers who crave authentic regional beverages without compromising health, Zingyy is the first 100% clean-label, zero-added-sugar ethnic beverage brand that delivers nostalgic Indian flavors with absolute nutritional purity, because unlike sugar-laden Paper Boat or generic Tropicana, Zingyy uses 100% real fruit pulp, botanicals, and zero refined sugars."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494955" y="4772063"/>
            <a:ext cx="243672" cy="2436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86772" y="4438003"/>
            <a:ext cx="408184" cy="40818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7738627" y="8934113"/>
            <a:ext cx="1971124" cy="197112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4538" y="1424231"/>
            <a:ext cx="1051653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ull Brand Positioning Proposal for the White-Space Entrant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434538" y="4772063"/>
            <a:ext cx="243672" cy="24367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8210" y="4438003"/>
            <a:ext cx="408184" cy="40818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564852" y="3290223"/>
            <a:ext cx="4423536" cy="98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b="true" sz="1400" spc="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Taglines: </a:t>
            </a:r>
          </a:p>
          <a:p>
            <a:pPr algn="ctr">
              <a:lnSpc>
                <a:spcPts val="1960"/>
              </a:lnSpc>
            </a:pPr>
            <a:r>
              <a:rPr lang="en-US" b="true" sz="1400" spc="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"Asli Flavor, Zero Offender." </a:t>
            </a:r>
          </a:p>
          <a:p>
            <a:pPr algn="ctr">
              <a:lnSpc>
                <a:spcPts val="1960"/>
              </a:lnSpc>
            </a:pPr>
            <a:r>
              <a:rPr lang="en-US" b="true" sz="1400" spc="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"Real Indian Taste, Zero Sugar Guilt."</a:t>
            </a:r>
          </a:p>
          <a:p>
            <a:pPr algn="ctr">
              <a:lnSpc>
                <a:spcPts val="196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73467"/>
            <a:ext cx="14716311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Go-To-Market Execution &amp; Hero Product Line</a:t>
            </a:r>
          </a:p>
          <a:p>
            <a:pPr algn="l">
              <a:lnSpc>
                <a:spcPts val="58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91702" y="2478454"/>
            <a:ext cx="6192376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Hero Product Launch SKUs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018041" y="2478454"/>
            <a:ext cx="6956659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 spc="147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Solution &amp; Channel Strategy</a:t>
            </a:r>
          </a:p>
          <a:p>
            <a:pPr algn="ctr">
              <a:lnSpc>
                <a:spcPts val="32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1702" y="3345368"/>
            <a:ext cx="7679719" cy="558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6"/>
              </a:lnSpc>
              <a:spcBef>
                <a:spcPct val="0"/>
              </a:spcBef>
            </a:pPr>
            <a:r>
              <a:rPr lang="en-US" b="true" sz="2174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Zingyy Raw Aam Panna</a:t>
            </a:r>
            <a:r>
              <a:rPr lang="en-US" sz="21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: Raw G</a:t>
            </a:r>
            <a:r>
              <a:rPr lang="en-US" sz="2174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reen Mango + Roasted Cumin + Mint + Stevia/Monkfruit (0g Added Sugar). Authentic tangy refreshment.</a:t>
            </a:r>
          </a:p>
          <a:p>
            <a:pPr algn="l" marL="0" indent="0" lvl="0">
              <a:lnSpc>
                <a:spcPts val="36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96"/>
              </a:lnSpc>
              <a:spcBef>
                <a:spcPct val="0"/>
              </a:spcBef>
            </a:pPr>
            <a:r>
              <a:rPr lang="en-US" b="true" sz="2174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Zingyy Jamun &amp; Black Salt</a:t>
            </a:r>
            <a:r>
              <a:rPr lang="en-US" sz="2174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: 100% Whole Jamun Pulp + Himalayan Pink Salt. Naturally low-glycemic, anti-diabetic superfood hero.</a:t>
            </a:r>
          </a:p>
          <a:p>
            <a:pPr algn="l" marL="0" indent="0" lvl="0">
              <a:lnSpc>
                <a:spcPts val="369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96"/>
              </a:lnSpc>
              <a:spcBef>
                <a:spcPct val="0"/>
              </a:spcBef>
            </a:pPr>
            <a:r>
              <a:rPr lang="en-US" b="true" sz="2174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Zingyy Kokum &amp; Mint Hydrator:</a:t>
            </a:r>
            <a:r>
              <a:rPr lang="en-US" sz="2174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Pure Kokum Extract + Natural Coconut Water Base. Ultimate natural electrolyte cooler.</a:t>
            </a:r>
          </a:p>
          <a:p>
            <a:pPr algn="just" marL="0" indent="0" lvl="0">
              <a:lnSpc>
                <a:spcPts val="404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018041" y="3162984"/>
            <a:ext cx="7466399" cy="603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HPP Technology – L</a:t>
            </a: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onger Shelf Life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HPP &amp; aseptic cold filling for 60–90 day chilled shelf life, preserving natural taste without chemical preservatives.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Quick-Commerce First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Focus on Blinkit, Zepto &amp; Swiggy Instamart to target urban consumers seeking healthy impulse beverages.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Modern Trade &amp; Wellness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Premium placement across Nature’s Basket, Foodhall, Cult.fit and organic supermarkets.</a:t>
            </a: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3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41594" y="2149842"/>
            <a:ext cx="223236" cy="22323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71422" y="6231622"/>
            <a:ext cx="345156" cy="3451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1649779"/>
            <a:ext cx="1471631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SKUs, Technology Solution, and Channel Strategy</a:t>
            </a:r>
          </a:p>
          <a:p>
            <a:pPr algn="l">
              <a:lnSpc>
                <a:spcPts val="37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2861"/>
            <a:ext cx="1449759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Secondary Sources &amp; Academic References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125879" y="8279145"/>
            <a:ext cx="223236" cy="2232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421751" y="6464032"/>
            <a:ext cx="345156" cy="3451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478454"/>
            <a:ext cx="4138879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 1: Official Brand Websites &amp; Product Portfolios (2025/2026)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01214" y="2478454"/>
            <a:ext cx="498550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 3: Industry Research &amp; Business Commentary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968482"/>
            <a:ext cx="5288592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•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Boat (Hector Beverages):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Official product portal highlighting traditional ethnic recipes (Aam Panna, Jaljeera) and brand narrative focused on 'Drinks and Memories'.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• 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Dabur Réal: 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Corporate portfolio detailing Réal Fruit Power mass nectars and Réal Activ 100% range.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• 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PepsiCo Tropicana:</a:t>
            </a:r>
            <a:r>
              <a:rPr lang="en-US" sz="1800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Official global product line detailing Tropicana 100% and Tropicana Essentials.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133159" y="3939907"/>
            <a:ext cx="5288592" cy="297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b="true" sz="20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Indian FMCG &amp; Packaged Beverage Market Report (2025-2026):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Data on 6.4% CAGR market expansion, rising prevalence of diabetes in urban India, and accelerating consumer shift toward zero-added-sugar, clean-label beverages.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649779"/>
            <a:ext cx="1471631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Documentation of Secondary Research Sources for Verification</a:t>
            </a:r>
          </a:p>
          <a:p>
            <a:pPr algn="l">
              <a:lnSpc>
                <a:spcPts val="37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722527" y="2478454"/>
            <a:ext cx="4138879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 2: Consumer Review Aggregators &amp; Retail Feedback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22527" y="3968482"/>
            <a:ext cx="5084337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E-Commer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Q-Comm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Cus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 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1800" strike="noStrik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</a:t>
            </a:r>
            <a:r>
              <a:rPr lang="en-US" b="true" sz="1800" strike="noStrike" u="none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(Amazon India, Blinkit, Zepto, Zomato District):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 - Public sentiment data revealing customer complaints regarding Tropicana's sweetness/hidden sugar perception.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 - Customer praise for Paper Boat's flavor authenticity alongsi</a:t>
            </a:r>
            <a:r>
              <a:rPr lang="en-US" sz="1800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r</a:t>
            </a:r>
            <a:r>
              <a:rPr lang="en-US" sz="1800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ev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 strike="noStrik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ew </a:t>
            </a:r>
            <a:r>
              <a:rPr lang="en-US" sz="1800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complaints regarding short shelf-life/spoilage.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DAHUDuez0N4</dc:identifier>
  <dcterms:modified xsi:type="dcterms:W3CDTF">2011-08-01T06:04:30Z</dcterms:modified>
  <cp:revision>1</cp:revision>
  <dc:title>Positioning Map Generation with AI: Strategic Planning &amp; White-Space Identification</dc:title>
</cp:coreProperties>
</file>